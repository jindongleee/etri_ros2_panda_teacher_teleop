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30275213" cy="42803763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24DFF5D-5D9C-474F-907F-3C1265026F74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ldImg"/>
          </p:nvPr>
        </p:nvSpPr>
        <p:spPr>
          <a:xfrm>
            <a:off x="2338560" y="1143000"/>
            <a:ext cx="2180520" cy="3085560"/>
          </a:xfrm>
          <a:prstGeom prst="rect">
            <a:avLst/>
          </a:prstGeom>
          <a:ln w="0">
            <a:noFill/>
          </a:ln>
        </p:spPr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E3904E1-4808-4765-BBDC-3130239379F0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3EA3B2F-BAB9-42F1-952B-3AB4DC6CB3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270520" y="7005240"/>
            <a:ext cx="25733160" cy="1490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1513440" y="10015920"/>
            <a:ext cx="27247320" cy="2482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A7EB01A-1BF6-4C3D-BA1A-7CC4AE75B4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270520" y="7005240"/>
            <a:ext cx="25733160" cy="1490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1513440" y="10015920"/>
            <a:ext cx="27247320" cy="2482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9FC5BF3-CC90-4797-AD15-914CB8C42B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270520" y="7005240"/>
            <a:ext cx="25733160" cy="1490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1513440" y="10015920"/>
            <a:ext cx="13296600" cy="2482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15475320" y="10015920"/>
            <a:ext cx="13296600" cy="2482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BD5CE9F-6085-435F-B5B0-F8552DDE8F2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270520" y="7005240"/>
            <a:ext cx="25733160" cy="1490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4039EAA-985C-465D-8CFF-55A1CBA513D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2270520" y="7005240"/>
            <a:ext cx="25733160" cy="6907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54FE04A-4F24-4B90-98AD-83F43640E19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270520" y="7005240"/>
            <a:ext cx="25733160" cy="1490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1513440" y="10015920"/>
            <a:ext cx="13296600" cy="118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15475320" y="10015920"/>
            <a:ext cx="13296600" cy="2482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1513440" y="22982760"/>
            <a:ext cx="13296600" cy="118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DA74043-E601-4961-ABBE-1E21EE759F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270520" y="7005240"/>
            <a:ext cx="25733160" cy="1490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3440" y="10015920"/>
            <a:ext cx="13296600" cy="2482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15475320" y="10015920"/>
            <a:ext cx="13296600" cy="118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15475320" y="22982760"/>
            <a:ext cx="13296600" cy="118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C4E43BB-2FE5-4C13-9C8D-8596A485F81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270520" y="7005240"/>
            <a:ext cx="25733160" cy="1490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1513440" y="10015920"/>
            <a:ext cx="13296600" cy="118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15475320" y="10015920"/>
            <a:ext cx="13296600" cy="118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1513440" y="22982760"/>
            <a:ext cx="27247320" cy="118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1960065-90C5-472F-B80C-F2BAC11FA14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270520" y="7005240"/>
            <a:ext cx="25733160" cy="1490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1513440" y="10015920"/>
            <a:ext cx="27247320" cy="118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1513440" y="22982760"/>
            <a:ext cx="27247320" cy="118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97175E2-7BBA-42A0-812A-F633A3640D9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270520" y="7005240"/>
            <a:ext cx="25733160" cy="1490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1513440" y="10015920"/>
            <a:ext cx="13296600" cy="118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15475320" y="10015920"/>
            <a:ext cx="13296600" cy="118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1513440" y="22982760"/>
            <a:ext cx="13296600" cy="118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15475320" y="22982760"/>
            <a:ext cx="13296600" cy="118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1F9437E-1FAE-41F5-9F8C-B75FA64A65E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270520" y="7005240"/>
            <a:ext cx="25733160" cy="1490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1513440" y="10015920"/>
            <a:ext cx="8773560" cy="118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10726200" y="10015920"/>
            <a:ext cx="8773560" cy="118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9938600" y="10015920"/>
            <a:ext cx="8773560" cy="118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1513440" y="22982760"/>
            <a:ext cx="8773560" cy="118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10726200" y="22982760"/>
            <a:ext cx="8773560" cy="118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9938600" y="22982760"/>
            <a:ext cx="8773560" cy="118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4C41FF4-1BC9-4A03-9BB8-9834F6C9CF0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2270520" y="7005240"/>
            <a:ext cx="25733160" cy="1490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10028520" y="39672720"/>
            <a:ext cx="10217160" cy="227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21381840" y="39672720"/>
            <a:ext cx="6811200" cy="227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397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60DC867-2ADB-40C3-B491-06A259A311F3}" type="slidenum">
              <a:rPr b="0" lang="en-US" sz="397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397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2081520" y="39672720"/>
            <a:ext cx="6811200" cy="227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1513440" y="10015920"/>
            <a:ext cx="27247320" cy="2482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그룹 1"/>
          <p:cNvGrpSpPr/>
          <p:nvPr/>
        </p:nvGrpSpPr>
        <p:grpSpPr>
          <a:xfrm>
            <a:off x="278280" y="5744880"/>
            <a:ext cx="14859360" cy="7988400"/>
            <a:chOff x="278280" y="5744880"/>
            <a:chExt cx="14859360" cy="7988400"/>
          </a:xfrm>
        </p:grpSpPr>
        <p:sp>
          <p:nvSpPr>
            <p:cNvPr id="48" name="TextBox 6"/>
            <p:cNvSpPr/>
            <p:nvPr/>
          </p:nvSpPr>
          <p:spPr>
            <a:xfrm>
              <a:off x="278280" y="5744880"/>
              <a:ext cx="10607400" cy="1155960"/>
            </a:xfrm>
            <a:prstGeom prst="rect">
              <a:avLst/>
            </a:prstGeom>
            <a:solidFill>
              <a:srgbClr val="fff2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70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1. Introduction</a:t>
              </a:r>
              <a:endParaRPr b="0" lang="en-US" sz="7000" spc="-1" strike="noStrike">
                <a:latin typeface="Arial"/>
              </a:endParaRPr>
            </a:p>
          </p:txBody>
        </p:sp>
        <p:sp>
          <p:nvSpPr>
            <p:cNvPr id="49" name="TextBox 7"/>
            <p:cNvSpPr/>
            <p:nvPr/>
          </p:nvSpPr>
          <p:spPr>
            <a:xfrm>
              <a:off x="278280" y="6914520"/>
              <a:ext cx="14859360" cy="6818760"/>
            </a:xfrm>
            <a:prstGeom prst="rect">
              <a:avLst/>
            </a:prstGeom>
            <a:solidFill>
              <a:srgbClr val="ffffff"/>
            </a:solidFill>
            <a:ln w="63360">
              <a:solidFill>
                <a:srgbClr val="ffd9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360000" rIns="360000" tIns="360000" bIns="360000" anchor="t">
              <a:spAutoFit/>
            </a:bodyPr>
            <a:p>
              <a:pPr marL="442800" indent="-442800" algn="just">
                <a:lnSpc>
                  <a:spcPct val="13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b="0" lang="ko-KR" sz="44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고난도 로봇 조작을 위한 범용 </a:t>
              </a:r>
              <a:r>
                <a:rPr b="0" lang="en-US" sz="44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Foundation </a:t>
              </a:r>
              <a:r>
                <a:rPr b="0" lang="ko-KR" sz="44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모델</a:t>
              </a:r>
              <a:r>
                <a:rPr b="0" lang="en-US" sz="44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(MMA) </a:t>
              </a:r>
              <a:r>
                <a:rPr b="0" lang="ko-KR" sz="44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개발에는 방대한 고품질 시연 데이터</a:t>
              </a:r>
              <a:r>
                <a:rPr b="0" lang="en-US" sz="44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(Demonstration Data)</a:t>
              </a:r>
              <a:r>
                <a:rPr b="0" lang="ko-KR" sz="44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가 필수적임</a:t>
              </a:r>
              <a:r>
                <a:rPr b="0" lang="en-US" sz="44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.</a:t>
              </a:r>
              <a:endParaRPr b="0" lang="en-US" sz="4400" spc="-1" strike="noStrike">
                <a:latin typeface="Arial"/>
              </a:endParaRPr>
            </a:p>
            <a:p>
              <a:pPr marL="442800" indent="-442800">
                <a:lnSpc>
                  <a:spcPct val="13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b="0" lang="ko-KR" sz="44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데이터 수집 과정에서 사용자가 사용하는 컨트롤러의 작관성에 따라 데이터의 품질과 수집 속도가 크게 달라짐</a:t>
              </a:r>
              <a:r>
                <a:rPr b="0" lang="en-US" sz="44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.</a:t>
              </a:r>
              <a:endParaRPr b="0" lang="en-US" sz="4400" spc="-1" strike="noStrike">
                <a:latin typeface="Arial"/>
              </a:endParaRPr>
            </a:p>
            <a:p>
              <a:pPr marL="442800" indent="-442800">
                <a:lnSpc>
                  <a:spcPct val="13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b="0" lang="en-US" sz="44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Rviz </a:t>
              </a:r>
              <a:r>
                <a:rPr b="0" lang="ko-KR" sz="44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가상 환경에서 </a:t>
              </a:r>
              <a:r>
                <a:rPr b="0" lang="en-US" sz="44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Franka Panda </a:t>
              </a:r>
              <a:r>
                <a:rPr b="0" lang="ko-KR" sz="44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로봇을 이용해 다양한 컨트롤러의 데이터 수집 효율성을 비교 분석함</a:t>
              </a:r>
              <a:r>
                <a:rPr b="0" lang="en-US" sz="44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.</a:t>
              </a:r>
              <a:endParaRPr b="0" lang="en-US" sz="4400" spc="-1" strike="noStrike">
                <a:latin typeface="Arial"/>
              </a:endParaRPr>
            </a:p>
          </p:txBody>
        </p:sp>
      </p:grpSp>
      <p:grpSp>
        <p:nvGrpSpPr>
          <p:cNvPr id="50" name="그룹 29"/>
          <p:cNvGrpSpPr/>
          <p:nvPr/>
        </p:nvGrpSpPr>
        <p:grpSpPr>
          <a:xfrm>
            <a:off x="15599520" y="37202040"/>
            <a:ext cx="14387400" cy="4459680"/>
            <a:chOff x="15599520" y="37202040"/>
            <a:chExt cx="14387400" cy="4459680"/>
          </a:xfrm>
        </p:grpSpPr>
        <p:sp>
          <p:nvSpPr>
            <p:cNvPr id="51" name="TextBox 16"/>
            <p:cNvSpPr/>
            <p:nvPr/>
          </p:nvSpPr>
          <p:spPr>
            <a:xfrm>
              <a:off x="15599520" y="37202040"/>
              <a:ext cx="10607400" cy="1155960"/>
            </a:xfrm>
            <a:prstGeom prst="rect">
              <a:avLst/>
            </a:prstGeom>
            <a:solidFill>
              <a:srgbClr val="fff2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70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 </a:t>
              </a:r>
              <a:r>
                <a:rPr b="1" lang="en-US" sz="70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References</a:t>
              </a:r>
              <a:endParaRPr b="0" lang="en-US" sz="7000" spc="-1" strike="noStrike">
                <a:latin typeface="Arial"/>
              </a:endParaRPr>
            </a:p>
          </p:txBody>
        </p:sp>
        <p:sp>
          <p:nvSpPr>
            <p:cNvPr id="52" name="TextBox 17"/>
            <p:cNvSpPr/>
            <p:nvPr/>
          </p:nvSpPr>
          <p:spPr>
            <a:xfrm>
              <a:off x="15599520" y="38371680"/>
              <a:ext cx="14387400" cy="3290040"/>
            </a:xfrm>
            <a:prstGeom prst="rect">
              <a:avLst/>
            </a:prstGeom>
            <a:solidFill>
              <a:srgbClr val="ffffff"/>
            </a:solidFill>
            <a:ln w="63360">
              <a:solidFill>
                <a:srgbClr val="ffd9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165600" indent="-165600" algn="just">
                <a:lnSpc>
                  <a:spcPct val="150000"/>
                </a:lnSpc>
                <a:buNone/>
                <a:tabLst>
                  <a:tab algn="l" pos="0"/>
                </a:tabLst>
              </a:pPr>
              <a:r>
                <a:rPr b="0" lang="en-US" sz="2000" spc="-41" strike="noStrike">
                  <a:solidFill>
                    <a:srgbClr val="000000"/>
                  </a:solidFill>
                  <a:latin typeface="Arial"/>
                  <a:ea typeface="BatangChe"/>
                </a:rPr>
                <a:t>[1] Lambeta, Mike, et al., “DIGIT: A Novel Design for a Low-Cost Compact High-Resolution Tactile Sensor with Application to In-Hand Manipulation,” </a:t>
              </a:r>
              <a:r>
                <a:rPr b="0" i="1" lang="en-US" sz="2000" spc="-41" strike="noStrike">
                  <a:solidFill>
                    <a:srgbClr val="000000"/>
                  </a:solidFill>
                  <a:latin typeface="Arial"/>
                  <a:ea typeface="BatangChe"/>
                </a:rPr>
                <a:t>IEEE ROBOTICS AND AUTOMATION LETTERS. PREPRINT VERSION. ACCEPTED JANUARY, 2020</a:t>
              </a:r>
              <a:endParaRPr b="0" lang="en-US" sz="2000" spc="-1" strike="noStrike">
                <a:latin typeface="Arial"/>
              </a:endParaRPr>
            </a:p>
            <a:p>
              <a:pPr marL="165600" indent="-165600" algn="just">
                <a:lnSpc>
                  <a:spcPct val="150000"/>
                </a:lnSpc>
                <a:buNone/>
                <a:tabLst>
                  <a:tab algn="l" pos="0"/>
                </a:tabLst>
              </a:pPr>
              <a:r>
                <a:rPr b="0" lang="en-US" sz="2000" spc="-41" strike="noStrike">
                  <a:solidFill>
                    <a:srgbClr val="000000"/>
                  </a:solidFill>
                  <a:latin typeface="Arial"/>
                  <a:ea typeface="BatangChe"/>
                </a:rPr>
                <a:t>[2] Lambeta, Mike, et al. "Digitizing Touch with an Artificial Multimodal Fingertip." </a:t>
              </a:r>
              <a:r>
                <a:rPr b="0" i="1" lang="en-US" sz="2000" spc="-41" strike="noStrike">
                  <a:solidFill>
                    <a:srgbClr val="000000"/>
                  </a:solidFill>
                  <a:latin typeface="Arial"/>
                  <a:ea typeface="BatangChe"/>
                </a:rPr>
                <a:t>arXiv preprint arXiv:2411.02479 (2024).</a:t>
              </a:r>
              <a:endParaRPr b="0" lang="en-US" sz="2000" spc="-1" strike="noStrike">
                <a:latin typeface="Arial"/>
              </a:endParaRPr>
            </a:p>
            <a:p>
              <a:pPr marL="165600" indent="-165600" algn="just">
                <a:lnSpc>
                  <a:spcPct val="150000"/>
                </a:lnSpc>
                <a:buNone/>
                <a:tabLst>
                  <a:tab algn="l" pos="0"/>
                </a:tabLst>
              </a:pPr>
              <a:r>
                <a:rPr b="0" lang="en-US" sz="2000" spc="-41" strike="noStrike">
                  <a:solidFill>
                    <a:srgbClr val="000000"/>
                  </a:solidFill>
                  <a:latin typeface="Arial"/>
                  <a:ea typeface="BatangChe"/>
                </a:rPr>
                <a:t>[3] Yang, Sanghoon, et al., "In-Hand Object Classification and Pose Estimation With Sim-to-Real Tactile Transfer for Robotic Manipulation." </a:t>
              </a:r>
              <a:r>
                <a:rPr b="0" i="1" lang="en-US" sz="2000" spc="-41" strike="noStrike">
                  <a:solidFill>
                    <a:srgbClr val="000000"/>
                  </a:solidFill>
                  <a:latin typeface="Arial"/>
                  <a:ea typeface="BatangChe"/>
                </a:rPr>
                <a:t>IEEE Robotics and Automation Letters, 2024</a:t>
              </a:r>
              <a:endParaRPr b="0" lang="en-US" sz="2000" spc="-1" strike="noStrike">
                <a:latin typeface="Arial"/>
              </a:endParaRPr>
            </a:p>
            <a:p>
              <a:pPr marL="165600" indent="-165600" algn="just">
                <a:lnSpc>
                  <a:spcPct val="150000"/>
                </a:lnSpc>
                <a:buNone/>
                <a:tabLst>
                  <a:tab algn="l" pos="0"/>
                </a:tabLst>
              </a:pPr>
              <a:r>
                <a:rPr b="0" lang="en-US" sz="2000" spc="-41" strike="noStrike">
                  <a:solidFill>
                    <a:srgbClr val="000000"/>
                  </a:solidFill>
                  <a:latin typeface="Arial"/>
                  <a:ea typeface="BatangChe"/>
                </a:rPr>
                <a:t>[4] Higuera, Carolina, et al. "Sparsh: Self-supervised touch representations for vision-based tactile sensing.", </a:t>
              </a:r>
              <a:r>
                <a:rPr b="0" i="1" lang="en-US" sz="2000" spc="-41" strike="noStrike">
                  <a:solidFill>
                    <a:srgbClr val="000000"/>
                  </a:solidFill>
                  <a:latin typeface="Arial"/>
                  <a:ea typeface="BatangChe"/>
                </a:rPr>
                <a:t>arXiv preprint arXiv:2410.24090 (2024).</a:t>
              </a:r>
              <a:endParaRPr b="0" lang="en-US" sz="2000" spc="-1" strike="noStrike">
                <a:latin typeface="Arial"/>
              </a:endParaRPr>
            </a:p>
          </p:txBody>
        </p:sp>
      </p:grpSp>
      <p:grpSp>
        <p:nvGrpSpPr>
          <p:cNvPr id="53" name="그룹 24"/>
          <p:cNvGrpSpPr/>
          <p:nvPr/>
        </p:nvGrpSpPr>
        <p:grpSpPr>
          <a:xfrm>
            <a:off x="278280" y="235080"/>
            <a:ext cx="29724840" cy="5399280"/>
            <a:chOff x="278280" y="235080"/>
            <a:chExt cx="29724840" cy="5399280"/>
          </a:xfrm>
        </p:grpSpPr>
        <p:sp>
          <p:nvSpPr>
            <p:cNvPr id="54" name="TextBox 4"/>
            <p:cNvSpPr/>
            <p:nvPr/>
          </p:nvSpPr>
          <p:spPr>
            <a:xfrm>
              <a:off x="278280" y="235080"/>
              <a:ext cx="29724840" cy="5399280"/>
            </a:xfrm>
            <a:prstGeom prst="rect">
              <a:avLst/>
            </a:prstGeom>
            <a:solidFill>
              <a:srgbClr val="deeb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60000" rIns="360000" tIns="360000" bIns="45000" anchor="t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ko-KR" sz="8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모</a:t>
              </a:r>
              <a:r>
                <a:rPr b="0" lang="ko-KR" sz="8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방</a:t>
              </a:r>
              <a:r>
                <a:rPr b="0" lang="en-US" sz="8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 </a:t>
              </a:r>
              <a:r>
                <a:rPr b="0" lang="ko-KR" sz="8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학</a:t>
              </a:r>
              <a:r>
                <a:rPr b="0" lang="ko-KR" sz="8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습</a:t>
              </a:r>
              <a:r>
                <a:rPr b="0" lang="ko-KR" sz="8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을</a:t>
              </a:r>
              <a:r>
                <a:rPr b="0" lang="en-US" sz="8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 </a:t>
              </a:r>
              <a:r>
                <a:rPr b="0" lang="ko-KR" sz="8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위</a:t>
              </a:r>
              <a:r>
                <a:rPr b="0" lang="ko-KR" sz="8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한</a:t>
              </a:r>
              <a:r>
                <a:rPr b="0" lang="en-US" sz="8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 </a:t>
              </a:r>
              <a:r>
                <a:rPr b="0" lang="ko-KR" sz="8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로</a:t>
              </a:r>
              <a:r>
                <a:rPr b="0" lang="ko-KR" sz="8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봇</a:t>
              </a:r>
              <a:r>
                <a:rPr b="0" lang="en-US" sz="8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 </a:t>
              </a:r>
              <a:r>
                <a:rPr b="0" lang="ko-KR" sz="8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정</a:t>
              </a:r>
              <a:r>
                <a:rPr b="0" lang="ko-KR" sz="8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밀</a:t>
              </a:r>
              <a:r>
                <a:rPr b="0" lang="en-US" sz="8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 </a:t>
              </a:r>
              <a:r>
                <a:rPr b="0" lang="ko-KR" sz="8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조</a:t>
              </a:r>
              <a:r>
                <a:rPr b="0" lang="ko-KR" sz="8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작</a:t>
              </a:r>
              <a:endParaRPr b="0" lang="en-US" sz="88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</a:pPr>
              <a:r>
                <a:rPr b="0" lang="ko-KR" sz="8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데</a:t>
              </a:r>
              <a:r>
                <a:rPr b="0" lang="ko-KR" sz="8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이</a:t>
              </a:r>
              <a:r>
                <a:rPr b="0" lang="ko-KR" sz="8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터</a:t>
              </a:r>
              <a:r>
                <a:rPr b="0" lang="en-US" sz="8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 </a:t>
              </a:r>
              <a:r>
                <a:rPr b="0" lang="ko-KR" sz="8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수</a:t>
              </a:r>
              <a:r>
                <a:rPr b="0" lang="ko-KR" sz="8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집</a:t>
              </a:r>
              <a:r>
                <a:rPr b="0" lang="en-US" sz="8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 </a:t>
              </a:r>
              <a:r>
                <a:rPr b="0" lang="ko-KR" sz="8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및</a:t>
              </a:r>
              <a:r>
                <a:rPr b="0" lang="en-US" sz="8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 </a:t>
              </a:r>
              <a:r>
                <a:rPr b="0" lang="ko-KR" sz="8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효</a:t>
              </a:r>
              <a:r>
                <a:rPr b="0" lang="ko-KR" sz="8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율</a:t>
              </a:r>
              <a:r>
                <a:rPr b="0" lang="en-US" sz="8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 </a:t>
              </a:r>
              <a:r>
                <a:rPr b="0" lang="ko-KR" sz="8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비</a:t>
              </a:r>
              <a:r>
                <a:rPr b="0" lang="ko-KR" sz="8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교</a:t>
              </a:r>
              <a:endParaRPr b="0" lang="en-US" sz="8800" spc="-1" strike="noStrike">
                <a:latin typeface="Arial"/>
              </a:endParaRPr>
            </a:p>
            <a:p>
              <a:pPr algn="ctr">
                <a:lnSpc>
                  <a:spcPct val="150000"/>
                </a:lnSpc>
                <a:buNone/>
              </a:pPr>
              <a:r>
                <a:rPr b="1" lang="ko-KR" sz="4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한</a:t>
              </a:r>
              <a:r>
                <a:rPr b="1" lang="ko-KR" sz="4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효</a:t>
              </a:r>
              <a:r>
                <a:rPr b="1" lang="ko-KR" sz="4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녕</a:t>
              </a:r>
              <a:r>
                <a:rPr b="1" lang="en-US" sz="4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,</a:t>
              </a:r>
              <a:r>
                <a:rPr b="1" lang="en-US" sz="4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 </a:t>
              </a:r>
              <a:r>
                <a:rPr b="1" lang="ko-KR" sz="4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이</a:t>
              </a:r>
              <a:r>
                <a:rPr b="1" lang="ko-KR" sz="4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진</a:t>
              </a:r>
              <a:r>
                <a:rPr b="1" lang="en-US" sz="4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 </a:t>
              </a:r>
              <a:endParaRPr b="0" lang="en-US" sz="4800" spc="-1" strike="noStrike">
                <a:latin typeface="Arial"/>
              </a:endParaRPr>
            </a:p>
          </p:txBody>
        </p:sp>
        <p:pic>
          <p:nvPicPr>
            <p:cNvPr id="55" name="Picture 2" descr="대한민국 방위산업전 DX KOREA 2022"/>
            <p:cNvPicPr/>
            <p:nvPr/>
          </p:nvPicPr>
          <p:blipFill>
            <a:blip r:embed="rId1"/>
            <a:stretch/>
          </p:blipFill>
          <p:spPr>
            <a:xfrm>
              <a:off x="12344400" y="4490640"/>
              <a:ext cx="4755240" cy="9334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56" name="그룹 18"/>
          <p:cNvGrpSpPr/>
          <p:nvPr/>
        </p:nvGrpSpPr>
        <p:grpSpPr>
          <a:xfrm>
            <a:off x="457560" y="13987440"/>
            <a:ext cx="14858640" cy="27403920"/>
            <a:chOff x="457560" y="13987440"/>
            <a:chExt cx="14858640" cy="27403920"/>
          </a:xfrm>
        </p:grpSpPr>
        <p:grpSp>
          <p:nvGrpSpPr>
            <p:cNvPr id="57" name="그룹 15"/>
            <p:cNvGrpSpPr/>
            <p:nvPr/>
          </p:nvGrpSpPr>
          <p:grpSpPr>
            <a:xfrm>
              <a:off x="457560" y="13987440"/>
              <a:ext cx="14858640" cy="27403920"/>
              <a:chOff x="457560" y="13987440"/>
              <a:chExt cx="14858640" cy="27403920"/>
            </a:xfrm>
          </p:grpSpPr>
          <p:sp>
            <p:nvSpPr>
              <p:cNvPr id="58" name="TextBox 12"/>
              <p:cNvSpPr/>
              <p:nvPr/>
            </p:nvSpPr>
            <p:spPr>
              <a:xfrm>
                <a:off x="457560" y="13987440"/>
                <a:ext cx="10607400" cy="1155960"/>
              </a:xfrm>
              <a:prstGeom prst="rect">
                <a:avLst/>
              </a:prstGeom>
              <a:solidFill>
                <a:srgbClr val="fff2c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en-US" sz="7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2. System</a:t>
                </a:r>
                <a:endParaRPr b="0" lang="en-US" sz="7000" spc="-1" strike="noStrike">
                  <a:latin typeface="Arial"/>
                </a:endParaRPr>
              </a:p>
            </p:txBody>
          </p:sp>
          <p:sp>
            <p:nvSpPr>
              <p:cNvPr id="59" name="TextBox 13"/>
              <p:cNvSpPr/>
              <p:nvPr/>
            </p:nvSpPr>
            <p:spPr>
              <a:xfrm>
                <a:off x="457560" y="15157080"/>
                <a:ext cx="14858640" cy="26234280"/>
              </a:xfrm>
              <a:prstGeom prst="rect">
                <a:avLst/>
              </a:prstGeom>
              <a:solidFill>
                <a:srgbClr val="ffffff"/>
              </a:solidFill>
              <a:ln w="63360">
                <a:solidFill>
                  <a:srgbClr val="ffd966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>
                  <a:lnSpc>
                    <a:spcPct val="100000"/>
                  </a:lnSpc>
                  <a:buNone/>
                </a:pPr>
                <a:r>
                  <a:rPr b="0" lang="en-US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2.1 </a:t>
                </a:r>
                <a:r>
                  <a:rPr b="0" lang="ko-KR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로봇 시스템</a:t>
                </a:r>
                <a:endParaRPr b="0" lang="en-US" sz="4800" spc="-1" strike="noStrike">
                  <a:latin typeface="Arial"/>
                </a:endParaRPr>
              </a:p>
              <a:p>
                <a:pPr lvl="1" marL="1143000" indent="-685800">
                  <a:lnSpc>
                    <a:spcPct val="100000"/>
                  </a:lnSpc>
                  <a:buClr>
                    <a:srgbClr val="000000"/>
                  </a:buClr>
                  <a:buFont typeface="Arial"/>
                  <a:buChar char="•"/>
                </a:pPr>
                <a:r>
                  <a:rPr b="0" lang="en-US" sz="44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2 Finger Dual Arm System</a:t>
                </a:r>
                <a:endParaRPr b="0" lang="en-US" sz="4400" spc="-1" strike="noStrike">
                  <a:latin typeface="Arial"/>
                </a:endParaRPr>
              </a:p>
              <a:p>
                <a:pPr lvl="3" marL="2057400" indent="-685800">
                  <a:lnSpc>
                    <a:spcPct val="100000"/>
                  </a:lnSpc>
                  <a:buClr>
                    <a:srgbClr val="000000"/>
                  </a:buClr>
                  <a:buSzPct val="80000"/>
                  <a:buFont typeface="Times Roman"/>
                  <a:buChar char="○"/>
                </a:pPr>
                <a:r>
                  <a:rPr b="0" lang="en-US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Manipulator : Flanka Panda</a:t>
                </a:r>
                <a:endParaRPr b="0" lang="en-US" sz="4000" spc="-1" strike="noStrike">
                  <a:latin typeface="Arial"/>
                </a:endParaRPr>
              </a:p>
              <a:p>
                <a:pPr lvl="3" marL="2057400" indent="-685800">
                  <a:lnSpc>
                    <a:spcPct val="100000"/>
                  </a:lnSpc>
                  <a:buClr>
                    <a:srgbClr val="000000"/>
                  </a:buClr>
                  <a:buSzPct val="80000"/>
                  <a:buFont typeface="Times Roman"/>
                  <a:buChar char="○"/>
                </a:pPr>
                <a:r>
                  <a:rPr b="0" lang="en-US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Gripper : Robotiq 2F-85</a:t>
                </a:r>
                <a:endParaRPr b="0" lang="en-US" sz="40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4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4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44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44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44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44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r>
                  <a:rPr b="0" lang="en-US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2.2 </a:t>
                </a:r>
                <a:r>
                  <a:rPr b="0" lang="ko-KR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컨트롤러 구성</a:t>
                </a:r>
                <a:endParaRPr b="0" lang="en-US" sz="4800" spc="-1" strike="noStrike">
                  <a:latin typeface="Arial"/>
                </a:endParaRPr>
              </a:p>
              <a:p>
                <a:pPr lvl="1" marL="1143000" indent="-685800">
                  <a:lnSpc>
                    <a:spcPct val="100000"/>
                  </a:lnSpc>
                  <a:buClr>
                    <a:srgbClr val="000000"/>
                  </a:buClr>
                  <a:buFont typeface="Arial"/>
                  <a:buChar char="•"/>
                </a:pPr>
                <a:r>
                  <a:rPr b="0" lang="ko-KR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범용적인 게임패드 기반 제어</a:t>
                </a:r>
                <a:r>
                  <a:rPr b="0" lang="en-US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. </a:t>
                </a:r>
                <a:endParaRPr b="0" lang="en-US" sz="4000" spc="-1" strike="noStrike">
                  <a:latin typeface="Arial"/>
                </a:endParaRPr>
              </a:p>
              <a:p>
                <a:pPr lvl="1" marL="1143000" indent="-685800">
                  <a:lnSpc>
                    <a:spcPct val="100000"/>
                  </a:lnSpc>
                  <a:buClr>
                    <a:srgbClr val="000000"/>
                  </a:buClr>
                  <a:buFont typeface="Arial"/>
                  <a:buChar char="•"/>
                </a:pPr>
                <a:r>
                  <a:rPr b="0" lang="ko-KR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인간의 팔 동작을 직접 모방하는</a:t>
                </a:r>
                <a:r>
                  <a:rPr b="0" lang="en-US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Haptic </a:t>
                </a:r>
                <a:r>
                  <a:rPr b="0" lang="ko-KR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리더 암</a:t>
                </a:r>
                <a:endParaRPr b="0" lang="en-US" sz="40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40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40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40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40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40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40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4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r>
                  <a:rPr b="0" lang="en-US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2.3 </a:t>
                </a:r>
                <a:r>
                  <a:rPr b="0" lang="ko-KR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데이터 파이프라인</a:t>
                </a:r>
                <a:endParaRPr b="0" lang="en-US" sz="4800" spc="-1" strike="noStrike">
                  <a:latin typeface="Arial"/>
                </a:endParaRPr>
              </a:p>
              <a:p>
                <a:pPr lvl="1" marL="1143000" indent="-685800">
                  <a:lnSpc>
                    <a:spcPct val="100000"/>
                  </a:lnSpc>
                  <a:buClr>
                    <a:srgbClr val="000000"/>
                  </a:buClr>
                  <a:buFont typeface="Arial"/>
                  <a:buChar char="•"/>
                </a:pPr>
                <a:r>
                  <a:rPr b="0" lang="ko-KR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컨트롤러의 입력을 토픽으로 받아 로봇 상태와 사용자 액션 수집</a:t>
                </a:r>
                <a:endParaRPr b="0" lang="en-US" sz="4000" spc="-1" strike="noStrike">
                  <a:latin typeface="Arial"/>
                </a:endParaRPr>
              </a:p>
              <a:p>
                <a:pPr lvl="1" marL="1143000" indent="-685800">
                  <a:lnSpc>
                    <a:spcPct val="100000"/>
                  </a:lnSpc>
                  <a:buClr>
                    <a:srgbClr val="000000"/>
                  </a:buClr>
                  <a:buFont typeface="Arial"/>
                  <a:buChar char="•"/>
                </a:pPr>
                <a:r>
                  <a:rPr b="0" lang="ko-KR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상태</a:t>
                </a:r>
                <a:r>
                  <a:rPr b="0" lang="en-US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(state)</a:t>
                </a:r>
                <a:r>
                  <a:rPr b="0" lang="ko-KR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와 액션</a:t>
                </a:r>
                <a:r>
                  <a:rPr b="0" lang="en-US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(action)</a:t>
                </a:r>
                <a:r>
                  <a:rPr b="0" lang="ko-KR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을 </a:t>
                </a:r>
                <a:r>
                  <a:rPr b="0" lang="en-US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15HZ</a:t>
                </a:r>
                <a:r>
                  <a:rPr b="0" lang="ko-KR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로 동기화하여 시계열 </a:t>
                </a:r>
                <a:r>
                  <a:rPr b="0" lang="ko-KR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샘플 생성</a:t>
                </a:r>
                <a:endParaRPr b="0" lang="en-US" sz="4000" spc="-1" strike="noStrike">
                  <a:latin typeface="Arial"/>
                </a:endParaRPr>
              </a:p>
              <a:p>
                <a:pPr lvl="1" marL="1143000" indent="-685800">
                  <a:lnSpc>
                    <a:spcPct val="100000"/>
                  </a:lnSpc>
                  <a:buClr>
                    <a:srgbClr val="000000"/>
                  </a:buClr>
                  <a:buFont typeface="Arial"/>
                  <a:buChar char="•"/>
                </a:pPr>
                <a:r>
                  <a:rPr b="0" lang="ko-KR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각 에피소드를 궤적 데이터 및 메타데이터로 저장</a:t>
                </a:r>
                <a:endParaRPr b="0" lang="en-US" sz="40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40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r>
                  <a:rPr b="0" lang="en-US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2.4 </a:t>
                </a:r>
                <a:r>
                  <a:rPr b="0" lang="ko-KR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데이터 수집 프로토콜</a:t>
                </a:r>
                <a:endParaRPr b="0" lang="en-US" sz="4800" spc="-1" strike="noStrike">
                  <a:latin typeface="Arial"/>
                </a:endParaRPr>
              </a:p>
              <a:p>
                <a:pPr lvl="1" marL="1143000" indent="-685800">
                  <a:lnSpc>
                    <a:spcPct val="100000"/>
                  </a:lnSpc>
                  <a:buClr>
                    <a:srgbClr val="000000"/>
                  </a:buClr>
                  <a:buFont typeface="Arial"/>
                  <a:buChar char="•"/>
                </a:pPr>
                <a:r>
                  <a:rPr b="0" lang="ko-KR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실험 구조</a:t>
                </a:r>
                <a:r>
                  <a:rPr b="0" lang="en-US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: </a:t>
                </a:r>
                <a:r>
                  <a:rPr b="0" lang="ko-KR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각 컨트롤러당 </a:t>
                </a:r>
                <a:r>
                  <a:rPr b="0" lang="en-US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10</a:t>
                </a:r>
                <a:r>
                  <a:rPr b="0" lang="ko-KR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회 시행</a:t>
                </a:r>
                <a:endParaRPr b="0" lang="en-US" sz="4000" spc="-1" strike="noStrike">
                  <a:latin typeface="Arial"/>
                </a:endParaRPr>
              </a:p>
              <a:p>
                <a:pPr lvl="1" marL="1143000" indent="-685800">
                  <a:lnSpc>
                    <a:spcPct val="100000"/>
                  </a:lnSpc>
                  <a:buClr>
                    <a:srgbClr val="000000"/>
                  </a:buClr>
                  <a:buFont typeface="Arial"/>
                  <a:buChar char="•"/>
                </a:pPr>
                <a:r>
                  <a:rPr b="0" lang="en-US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Start: foot switch</a:t>
                </a:r>
                <a:endParaRPr b="0" lang="en-US" sz="4000" spc="-1" strike="noStrike">
                  <a:latin typeface="Arial"/>
                </a:endParaRPr>
              </a:p>
              <a:p>
                <a:pPr lvl="1" marL="1143000" indent="-685800">
                  <a:lnSpc>
                    <a:spcPct val="100000"/>
                  </a:lnSpc>
                  <a:buClr>
                    <a:srgbClr val="000000"/>
                  </a:buClr>
                  <a:buFont typeface="Arial"/>
                  <a:buChar char="•"/>
                </a:pPr>
                <a:r>
                  <a:rPr b="0" lang="en-US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1</a:t>
                </a:r>
                <a:r>
                  <a:rPr b="0" lang="ko-KR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회 시행 </a:t>
                </a:r>
                <a:r>
                  <a:rPr b="0" lang="en-US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= 3</a:t>
                </a:r>
                <a:r>
                  <a:rPr b="0" lang="ko-KR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개의 랜덤 타겟 에피소드</a:t>
                </a:r>
                <a:endParaRPr b="0" lang="en-US" sz="4000" spc="-1" strike="noStrike">
                  <a:latin typeface="Arial"/>
                </a:endParaRPr>
              </a:p>
              <a:p>
                <a:pPr lvl="1" marL="1143000" indent="-685800">
                  <a:lnSpc>
                    <a:spcPct val="100000"/>
                  </a:lnSpc>
                  <a:buClr>
                    <a:srgbClr val="000000"/>
                  </a:buClr>
                  <a:buFont typeface="Arial"/>
                  <a:buChar char="•"/>
                </a:pPr>
                <a:r>
                  <a:rPr b="0" lang="ko-KR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에피소드당 최대 </a:t>
                </a:r>
                <a:r>
                  <a:rPr b="0" lang="en-US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20</a:t>
                </a:r>
                <a:r>
                  <a:rPr b="0" lang="ko-KR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초 </a:t>
                </a:r>
                <a:r>
                  <a:rPr b="0" lang="en-US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(</a:t>
                </a:r>
                <a:r>
                  <a:rPr b="0" lang="ko-KR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초과시 실패</a:t>
                </a:r>
                <a:r>
                  <a:rPr b="0" lang="en-US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)</a:t>
                </a:r>
                <a:endParaRPr b="0" lang="en-US" sz="4000" spc="-1" strike="noStrike">
                  <a:latin typeface="Arial"/>
                </a:endParaRPr>
              </a:p>
              <a:p>
                <a:pPr lvl="1" marL="1143000" indent="-685800">
                  <a:lnSpc>
                    <a:spcPct val="100000"/>
                  </a:lnSpc>
                  <a:buClr>
                    <a:srgbClr val="000000"/>
                  </a:buClr>
                  <a:buFont typeface="Arial"/>
                  <a:buChar char="•"/>
                </a:pPr>
                <a:r>
                  <a:rPr b="0" lang="ko-KR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총 데이터</a:t>
                </a:r>
                <a:r>
                  <a:rPr b="0" lang="en-US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: </a:t>
                </a:r>
                <a:r>
                  <a:rPr b="0" lang="ko-KR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컨트롤러당 </a:t>
                </a:r>
                <a:r>
                  <a:rPr b="0" lang="en-US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30 </a:t>
                </a:r>
                <a:r>
                  <a:rPr b="0" lang="ko-KR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에피소드 </a:t>
                </a:r>
                <a:endParaRPr b="0" lang="en-US" sz="40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40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r>
                  <a:rPr b="0" lang="en-US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2.5 </a:t>
                </a:r>
                <a:r>
                  <a:rPr b="0" lang="ko-KR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수집 데이터 형식</a:t>
                </a:r>
                <a:endParaRPr b="0" lang="en-US" sz="4800" spc="-1" strike="noStrike">
                  <a:latin typeface="Arial"/>
                </a:endParaRPr>
              </a:p>
              <a:p>
                <a:pPr lvl="1" marL="1143000" indent="-685800">
                  <a:lnSpc>
                    <a:spcPct val="100000"/>
                  </a:lnSpc>
                  <a:buClr>
                    <a:srgbClr val="000000"/>
                  </a:buClr>
                  <a:buFont typeface="Arial"/>
                  <a:buChar char="•"/>
                </a:pPr>
                <a:r>
                  <a:rPr b="0" lang="en-US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State: End-effector pose(</a:t>
                </a:r>
                <a:r>
                  <a:rPr b="0" lang="ko-KR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위치</a:t>
                </a:r>
                <a:r>
                  <a:rPr b="0" lang="en-US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+</a:t>
                </a:r>
                <a:r>
                  <a:rPr b="0" lang="ko-KR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방향</a:t>
                </a:r>
                <a:r>
                  <a:rPr b="0" lang="en-US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)</a:t>
                </a:r>
                <a:br>
                  <a:rPr sz="4000"/>
                </a:br>
                <a:r>
                  <a:rPr b="0" lang="en-US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joint angles</a:t>
                </a:r>
                <a:endParaRPr b="0" lang="en-US" sz="4000" spc="-1" strike="noStrike">
                  <a:latin typeface="Arial"/>
                </a:endParaRPr>
              </a:p>
              <a:p>
                <a:pPr lvl="1" marL="1143000" indent="-685800">
                  <a:lnSpc>
                    <a:spcPct val="100000"/>
                  </a:lnSpc>
                  <a:buClr>
                    <a:srgbClr val="000000"/>
                  </a:buClr>
                  <a:buFont typeface="Arial"/>
                  <a:buChar char="•"/>
                </a:pPr>
                <a:r>
                  <a:rPr b="0" lang="en-US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Action: Delta twist (6-DOF velocity cmd)</a:t>
                </a:r>
                <a:endParaRPr b="0" lang="en-US" sz="4000" spc="-1" strike="noStrike">
                  <a:latin typeface="Arial"/>
                </a:endParaRPr>
              </a:p>
              <a:p>
                <a:pPr lvl="1" marL="1143000" indent="-685800">
                  <a:lnSpc>
                    <a:spcPct val="100000"/>
                  </a:lnSpc>
                  <a:buClr>
                    <a:srgbClr val="000000"/>
                  </a:buClr>
                  <a:buFont typeface="Arial"/>
                  <a:buChar char="•"/>
                </a:pPr>
                <a:r>
                  <a:rPr b="0" lang="ko-KR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메타데이터</a:t>
                </a:r>
                <a:r>
                  <a:rPr b="0" lang="en-US" sz="4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: Duraton, Success rate, Target position</a:t>
                </a:r>
                <a:endParaRPr b="0" lang="en-US" sz="4000" spc="-1" strike="noStrike">
                  <a:latin typeface="Arial"/>
                </a:endParaRPr>
              </a:p>
              <a:p>
                <a:pPr lvl="1" marL="1143000" indent="-685800">
                  <a:lnSpc>
                    <a:spcPct val="100000"/>
                  </a:lnSpc>
                  <a:buClr>
                    <a:srgbClr val="000000"/>
                  </a:buClr>
                  <a:buFont typeface="Arial"/>
                  <a:buChar char="•"/>
                </a:pPr>
                <a:endParaRPr b="0" lang="en-US" sz="40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36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3600" spc="-1" strike="noStrike">
                  <a:latin typeface="Arial"/>
                </a:endParaRPr>
              </a:p>
            </p:txBody>
          </p:sp>
          <p:pic>
            <p:nvPicPr>
              <p:cNvPr id="60" name="" descr=""/>
              <p:cNvPicPr/>
              <p:nvPr/>
            </p:nvPicPr>
            <p:blipFill>
              <a:blip r:embed="rId2"/>
              <a:stretch/>
            </p:blipFill>
            <p:spPr>
              <a:xfrm>
                <a:off x="1779480" y="18195840"/>
                <a:ext cx="3362040" cy="34797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61" name="" descr=""/>
              <p:cNvPicPr/>
              <p:nvPr/>
            </p:nvPicPr>
            <p:blipFill>
              <a:blip r:embed="rId3"/>
              <a:stretch/>
            </p:blipFill>
            <p:spPr>
              <a:xfrm>
                <a:off x="10287000" y="32918400"/>
                <a:ext cx="4861440" cy="49874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62" name="" descr=""/>
              <p:cNvPicPr/>
              <p:nvPr/>
            </p:nvPicPr>
            <p:blipFill>
              <a:blip r:embed="rId4"/>
              <a:stretch/>
            </p:blipFill>
            <p:spPr>
              <a:xfrm>
                <a:off x="6172200" y="18288000"/>
                <a:ext cx="5257800" cy="3679560"/>
              </a:xfrm>
              <a:prstGeom prst="rect">
                <a:avLst/>
              </a:prstGeom>
              <a:ln w="0">
                <a:noFill/>
              </a:ln>
            </p:spPr>
          </p:pic>
        </p:grpSp>
        <p:pic>
          <p:nvPicPr>
            <p:cNvPr id="63" name="" descr=""/>
            <p:cNvPicPr/>
            <p:nvPr/>
          </p:nvPicPr>
          <p:blipFill>
            <a:blip r:embed="rId5"/>
            <a:stretch/>
          </p:blipFill>
          <p:spPr>
            <a:xfrm>
              <a:off x="841320" y="24536160"/>
              <a:ext cx="4187880" cy="2514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4" name="" descr=""/>
            <p:cNvPicPr/>
            <p:nvPr/>
          </p:nvPicPr>
          <p:blipFill>
            <a:blip r:embed="rId6"/>
            <a:stretch/>
          </p:blipFill>
          <p:spPr>
            <a:xfrm>
              <a:off x="5943960" y="24231600"/>
              <a:ext cx="3200040" cy="295776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65" name="그룹 26"/>
          <p:cNvGrpSpPr/>
          <p:nvPr/>
        </p:nvGrpSpPr>
        <p:grpSpPr>
          <a:xfrm>
            <a:off x="15544800" y="5810400"/>
            <a:ext cx="14509800" cy="17473320"/>
            <a:chOff x="15544800" y="5810400"/>
            <a:chExt cx="14509800" cy="17473320"/>
          </a:xfrm>
        </p:grpSpPr>
        <p:grpSp>
          <p:nvGrpSpPr>
            <p:cNvPr id="66" name="그룹 27"/>
            <p:cNvGrpSpPr/>
            <p:nvPr/>
          </p:nvGrpSpPr>
          <p:grpSpPr>
            <a:xfrm>
              <a:off x="15667200" y="15544800"/>
              <a:ext cx="14387400" cy="7738920"/>
              <a:chOff x="15667200" y="15544800"/>
              <a:chExt cx="14387400" cy="7738920"/>
            </a:xfrm>
          </p:grpSpPr>
          <p:sp>
            <p:nvSpPr>
              <p:cNvPr id="67" name="TextBox 8"/>
              <p:cNvSpPr/>
              <p:nvPr/>
            </p:nvSpPr>
            <p:spPr>
              <a:xfrm>
                <a:off x="15667200" y="15544800"/>
                <a:ext cx="10607400" cy="1155960"/>
              </a:xfrm>
              <a:prstGeom prst="rect">
                <a:avLst/>
              </a:prstGeom>
              <a:solidFill>
                <a:srgbClr val="fff2c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en-US" sz="7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3. Result</a:t>
                </a:r>
                <a:endParaRPr b="0" lang="en-US" sz="7000" spc="-1" strike="noStrike">
                  <a:latin typeface="Arial"/>
                </a:endParaRPr>
              </a:p>
            </p:txBody>
          </p:sp>
          <p:sp>
            <p:nvSpPr>
              <p:cNvPr id="68" name="TextBox 9"/>
              <p:cNvSpPr/>
              <p:nvPr/>
            </p:nvSpPr>
            <p:spPr>
              <a:xfrm>
                <a:off x="15667200" y="16714080"/>
                <a:ext cx="14387400" cy="6569640"/>
              </a:xfrm>
              <a:prstGeom prst="rect">
                <a:avLst/>
              </a:prstGeom>
              <a:solidFill>
                <a:srgbClr val="ffffff"/>
              </a:solidFill>
              <a:ln w="63360">
                <a:solidFill>
                  <a:srgbClr val="ffd966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00" rIns="360000" tIns="360000" bIns="360000" anchor="t">
                <a:spAutoFit/>
              </a:bodyPr>
              <a:p>
                <a:pPr marL="685800" indent="-685800">
                  <a:lnSpc>
                    <a:spcPct val="100000"/>
                  </a:lnSpc>
                  <a:buClr>
                    <a:srgbClr val="000000"/>
                  </a:buClr>
                  <a:buFont typeface="Arial"/>
                  <a:buChar char="•"/>
                </a:pPr>
                <a:endParaRPr b="0" lang="en-US" sz="4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4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4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4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4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4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4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4800" spc="-1" strike="noStrike">
                  <a:latin typeface="Arial"/>
                </a:endParaRPr>
              </a:p>
            </p:txBody>
          </p:sp>
        </p:grpSp>
        <p:grpSp>
          <p:nvGrpSpPr>
            <p:cNvPr id="69" name="그룹 2"/>
            <p:cNvGrpSpPr/>
            <p:nvPr/>
          </p:nvGrpSpPr>
          <p:grpSpPr>
            <a:xfrm>
              <a:off x="15544800" y="5810400"/>
              <a:ext cx="14387400" cy="9201240"/>
              <a:chOff x="15544800" y="5810400"/>
              <a:chExt cx="14387400" cy="9201240"/>
            </a:xfrm>
          </p:grpSpPr>
          <p:sp>
            <p:nvSpPr>
              <p:cNvPr id="70" name="TextBox 1"/>
              <p:cNvSpPr/>
              <p:nvPr/>
            </p:nvSpPr>
            <p:spPr>
              <a:xfrm>
                <a:off x="15544800" y="5810400"/>
                <a:ext cx="10607400" cy="1155960"/>
              </a:xfrm>
              <a:prstGeom prst="rect">
                <a:avLst/>
              </a:prstGeom>
              <a:solidFill>
                <a:srgbClr val="fff2c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en-US" sz="70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4. Experiment</a:t>
                </a:r>
                <a:endParaRPr b="0" lang="en-US" sz="7000" spc="-1" strike="noStrike">
                  <a:latin typeface="Arial"/>
                </a:endParaRPr>
              </a:p>
            </p:txBody>
          </p:sp>
          <p:sp>
            <p:nvSpPr>
              <p:cNvPr id="71" name="TextBox 3"/>
              <p:cNvSpPr/>
              <p:nvPr/>
            </p:nvSpPr>
            <p:spPr>
              <a:xfrm>
                <a:off x="15544800" y="6979680"/>
                <a:ext cx="14387400" cy="8031960"/>
              </a:xfrm>
              <a:prstGeom prst="rect">
                <a:avLst/>
              </a:prstGeom>
              <a:solidFill>
                <a:srgbClr val="ffffff"/>
              </a:solidFill>
              <a:ln w="63360">
                <a:solidFill>
                  <a:srgbClr val="ffd966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00" rIns="360000" tIns="360000" bIns="360000" anchor="t">
                <a:spAutoFit/>
              </a:bodyPr>
              <a:p>
                <a:pPr marL="685800" indent="-685800">
                  <a:lnSpc>
                    <a:spcPct val="100000"/>
                  </a:lnSpc>
                  <a:buClr>
                    <a:srgbClr val="000000"/>
                  </a:buClr>
                  <a:buFont typeface="Arial"/>
                  <a:buChar char="•"/>
                </a:pPr>
                <a:r>
                  <a:rPr b="0" lang="en-US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4.1 </a:t>
                </a:r>
                <a:r>
                  <a:rPr b="0" lang="zh-CN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실험 테스크</a:t>
                </a:r>
                <a:endParaRPr b="0" lang="en-US" sz="4800" spc="-1" strike="noStrike">
                  <a:latin typeface="Arial"/>
                </a:endParaRPr>
              </a:p>
              <a:p>
                <a:pPr marL="685800" indent="-685800">
                  <a:lnSpc>
                    <a:spcPct val="100000"/>
                  </a:lnSpc>
                  <a:buClr>
                    <a:srgbClr val="000000"/>
                  </a:buClr>
                  <a:buFont typeface="Arial"/>
                  <a:buChar char="•"/>
                </a:pPr>
                <a:r>
                  <a:rPr b="0" lang="en-US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3D </a:t>
                </a:r>
                <a:r>
                  <a:rPr b="0" lang="zh-CN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공간상에서 랜덤 생성된 타겟 마커에 </a:t>
                </a:r>
                <a:r>
                  <a:rPr b="0" lang="en-US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End-</a:t>
                </a:r>
                <a:r>
                  <a:rPr b="0" lang="en-US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effector </a:t>
                </a:r>
                <a:r>
                  <a:rPr b="0" lang="zh-CN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도달시키기기</a:t>
                </a:r>
                <a:endParaRPr b="0" lang="en-US" sz="4800" spc="-1" strike="noStrike">
                  <a:latin typeface="Arial"/>
                </a:endParaRPr>
              </a:p>
              <a:p>
                <a:pPr marL="685800" indent="-685800">
                  <a:lnSpc>
                    <a:spcPct val="100000"/>
                  </a:lnSpc>
                  <a:buClr>
                    <a:srgbClr val="000000"/>
                  </a:buClr>
                  <a:buFont typeface="Arial"/>
                  <a:buChar char="•"/>
                </a:pPr>
                <a:r>
                  <a:rPr b="0" lang="zh-CN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각 시행마다 </a:t>
                </a:r>
                <a:r>
                  <a:rPr b="0" lang="en-US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3</a:t>
                </a:r>
                <a:r>
                  <a:rPr b="0" lang="zh-CN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개의 순차적 타겟 제시</a:t>
                </a:r>
                <a:br>
                  <a:rPr sz="4800"/>
                </a:br>
                <a:r>
                  <a:rPr b="0" lang="en-US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4.2 </a:t>
                </a:r>
                <a:r>
                  <a:rPr b="0" lang="zh-CN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평가 지표</a:t>
                </a:r>
                <a:endParaRPr b="0" lang="en-US" sz="4800" spc="-1" strike="noStrike">
                  <a:latin typeface="Arial"/>
                </a:endParaRPr>
              </a:p>
              <a:p>
                <a:pPr marL="685800" indent="-685800">
                  <a:lnSpc>
                    <a:spcPct val="100000"/>
                  </a:lnSpc>
                  <a:buClr>
                    <a:srgbClr val="000000"/>
                  </a:buClr>
                  <a:buFont typeface="Arial"/>
                  <a:buChar char="•"/>
                </a:pPr>
                <a:r>
                  <a:rPr b="0" lang="zh-CN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성공률</a:t>
                </a:r>
                <a:r>
                  <a:rPr b="0" lang="en-US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(Success Rate): </a:t>
                </a:r>
                <a:r>
                  <a:rPr b="0" lang="zh-CN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에피소드 완료 비율</a:t>
                </a:r>
                <a:endParaRPr b="0" lang="en-US" sz="4800" spc="-1" strike="noStrike">
                  <a:latin typeface="Arial"/>
                </a:endParaRPr>
              </a:p>
              <a:p>
                <a:pPr marL="685800" indent="-685800">
                  <a:lnSpc>
                    <a:spcPct val="100000"/>
                  </a:lnSpc>
                  <a:buClr>
                    <a:srgbClr val="000000"/>
                  </a:buClr>
                  <a:buFont typeface="Arial"/>
                  <a:buChar char="•"/>
                </a:pPr>
                <a:r>
                  <a:rPr b="0" lang="zh-CN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작업 시간</a:t>
                </a:r>
                <a:r>
                  <a:rPr b="0" lang="en-US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(Task Duration): </a:t>
                </a:r>
                <a:r>
                  <a:rPr b="0" lang="zh-CN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에피소드당 평균 소요 </a:t>
                </a:r>
                <a:r>
                  <a:rPr b="0" lang="zh-CN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시간</a:t>
                </a:r>
                <a:endParaRPr b="0" lang="en-US" sz="4800" spc="-1" strike="noStrike">
                  <a:latin typeface="Arial"/>
                </a:endParaRPr>
              </a:p>
              <a:p>
                <a:pPr marL="685800" indent="-685800">
                  <a:lnSpc>
                    <a:spcPct val="100000"/>
                  </a:lnSpc>
                  <a:buClr>
                    <a:srgbClr val="000000"/>
                  </a:buClr>
                  <a:buFont typeface="Arial"/>
                  <a:buChar char="•"/>
                </a:pPr>
                <a:r>
                  <a:rPr b="0" lang="zh-CN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경로 효율성</a:t>
                </a:r>
                <a:r>
                  <a:rPr b="0" lang="en-US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: End-effector </a:t>
                </a:r>
                <a:r>
                  <a:rPr b="0" lang="zh-CN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이동 거리</a:t>
                </a:r>
                <a:br>
                  <a:rPr sz="4800"/>
                </a:br>
                <a:r>
                  <a:rPr b="0" lang="zh-CN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타겟 거리</a:t>
                </a:r>
                <a:r>
                  <a:rPr b="0" lang="en-US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/ </a:t>
                </a:r>
                <a:r>
                  <a:rPr b="0" lang="zh-CN" sz="48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이동 거리</a:t>
                </a:r>
                <a:endParaRPr b="0" lang="en-US" sz="4800" spc="-1" strike="noStrike">
                  <a:latin typeface="Arial"/>
                </a:endParaRPr>
              </a:p>
            </p:txBody>
          </p:sp>
        </p:grpSp>
      </p:grpSp>
      <p:grpSp>
        <p:nvGrpSpPr>
          <p:cNvPr id="72" name="그룹 25"/>
          <p:cNvGrpSpPr/>
          <p:nvPr/>
        </p:nvGrpSpPr>
        <p:grpSpPr>
          <a:xfrm>
            <a:off x="15571800" y="29615400"/>
            <a:ext cx="14523480" cy="6699960"/>
            <a:chOff x="15571800" y="29615400"/>
            <a:chExt cx="14523480" cy="6699960"/>
          </a:xfrm>
        </p:grpSpPr>
        <p:sp>
          <p:nvSpPr>
            <p:cNvPr id="73" name="TextBox 10"/>
            <p:cNvSpPr/>
            <p:nvPr/>
          </p:nvSpPr>
          <p:spPr>
            <a:xfrm>
              <a:off x="15571800" y="29615400"/>
              <a:ext cx="10607400" cy="1155960"/>
            </a:xfrm>
            <a:prstGeom prst="rect">
              <a:avLst/>
            </a:prstGeom>
            <a:solidFill>
              <a:srgbClr val="fff2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70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4. Future Work</a:t>
              </a:r>
              <a:endParaRPr b="0" lang="en-US" sz="7000" spc="-1" strike="noStrike">
                <a:latin typeface="Arial"/>
              </a:endParaRPr>
            </a:p>
          </p:txBody>
        </p:sp>
        <p:sp>
          <p:nvSpPr>
            <p:cNvPr id="74" name="TextBox 11"/>
            <p:cNvSpPr/>
            <p:nvPr/>
          </p:nvSpPr>
          <p:spPr>
            <a:xfrm>
              <a:off x="15571800" y="30785040"/>
              <a:ext cx="14387400" cy="5530320"/>
            </a:xfrm>
            <a:prstGeom prst="rect">
              <a:avLst/>
            </a:prstGeom>
            <a:solidFill>
              <a:srgbClr val="ffffff"/>
            </a:solidFill>
            <a:ln w="63360">
              <a:solidFill>
                <a:srgbClr val="ffd9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685800" indent="-685800">
                <a:lnSpc>
                  <a:spcPct val="10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b="0" lang="ko-KR" sz="44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가상 환경이 아닌 실제 로봇 작업의 난이도가 높은 조작 데이터 수집 및 양팔 로봇 시스템 훈련</a:t>
              </a:r>
              <a:endParaRPr b="0" lang="en-US" sz="44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endParaRPr b="0" lang="en-US" sz="44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endParaRPr b="0" lang="en-US" sz="45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endParaRPr b="0" lang="en-US" sz="45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endParaRPr b="0" lang="en-US" sz="45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endParaRPr b="0" lang="en-US" sz="45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endParaRPr b="0" lang="en-US" sz="4500" spc="-1" strike="noStrike">
                <a:latin typeface="Arial"/>
              </a:endParaRPr>
            </a:p>
          </p:txBody>
        </p:sp>
        <p:pic>
          <p:nvPicPr>
            <p:cNvPr id="75" name="그림 111" descr=""/>
            <p:cNvPicPr/>
            <p:nvPr/>
          </p:nvPicPr>
          <p:blipFill>
            <a:blip r:embed="rId7"/>
            <a:stretch/>
          </p:blipFill>
          <p:spPr>
            <a:xfrm>
              <a:off x="20574000" y="32232600"/>
              <a:ext cx="4546080" cy="36831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6" name="" descr=""/>
            <p:cNvPicPr/>
            <p:nvPr/>
          </p:nvPicPr>
          <p:blipFill>
            <a:blip r:embed="rId8"/>
            <a:stretch/>
          </p:blipFill>
          <p:spPr>
            <a:xfrm>
              <a:off x="16002000" y="32232600"/>
              <a:ext cx="4114800" cy="38340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77" name="TextBox 2"/>
          <p:cNvSpPr/>
          <p:nvPr/>
        </p:nvSpPr>
        <p:spPr>
          <a:xfrm>
            <a:off x="278280" y="42003360"/>
            <a:ext cx="29671920" cy="699480"/>
          </a:xfrm>
          <a:prstGeom prst="rect">
            <a:avLst/>
          </a:prstGeom>
          <a:solidFill>
            <a:srgbClr val="ffffff"/>
          </a:solidFill>
          <a:ln w="63360">
            <a:solidFill>
              <a:srgbClr val="ffd9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>
              <a:lnSpc>
                <a:spcPct val="100000"/>
              </a:lnSpc>
              <a:buNone/>
            </a:pPr>
            <a:r>
              <a:rPr b="0" lang="en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Acknowledgement</a:t>
            </a:r>
            <a:endParaRPr b="0" lang="en-US" sz="2000" spc="-1" strike="noStrike">
              <a:latin typeface="Arial"/>
            </a:endParaRPr>
          </a:p>
          <a:p>
            <a:pPr marL="457200">
              <a:lnSpc>
                <a:spcPct val="100000"/>
              </a:lnSpc>
              <a:buNone/>
            </a:pPr>
            <a:r>
              <a:rPr b="0" lang="ko-K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본 연구 논문은 한국전자통신연구원 연구운영지원사업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[25</a:t>
            </a:r>
            <a:r>
              <a:rPr b="0" lang="en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ZR1100, </a:t>
            </a:r>
            <a:r>
              <a:rPr b="0" lang="ko-K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자율적으로 연결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·</a:t>
            </a:r>
            <a:r>
              <a:rPr b="0" lang="ko-K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제어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·</a:t>
            </a:r>
            <a:r>
              <a:rPr b="0" lang="ko-K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진화하는 초연결 지능화 기술 연구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]</a:t>
            </a:r>
            <a:r>
              <a:rPr b="0" lang="ko-K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과 산업통상자원부와 한국산업기술진흥원의 “글로벌산업기술협력센터 사업으로 수행된 연구 결과임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ko-K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연구개발과제번호 </a:t>
            </a:r>
            <a:r>
              <a:rPr b="0" lang="en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P0028420)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671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2025-02-13T08:17:13Z</dcterms:created>
  <dc:creator>김경훈</dc:creator>
  <dc:description/>
  <dc:language>en-US</dc:language>
  <cp:lastModifiedBy/>
  <dcterms:modified xsi:type="dcterms:W3CDTF">2026-02-02T16:47:35Z</dcterms:modified>
  <cp:revision>17</cp:revision>
  <dc:subject/>
  <dc:title>PowerPoint 프레젠테이션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사용자 지정</vt:lpwstr>
  </property>
  <property fmtid="{D5CDD505-2E9C-101B-9397-08002B2CF9AE}" pid="4" name="Slides">
    <vt:r8>1</vt:r8>
  </property>
</Properties>
</file>